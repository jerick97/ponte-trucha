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hone_al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74320"/>
            <a:ext cx="3207028" cy="6309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051560"/>
            <a:ext cx="749807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0" i="0">
                <a:solidFill>
                  <a:srgbClr val="FFFFFF"/>
                </a:solidFill>
                <a:latin typeface="Calibri"/>
              </a:rPr>
              <a:t>🐟</a:t>
            </a:r>
          </a:p>
          <a:p>
            <a:pPr algn="l"/>
            <a:r>
              <a:rPr sz="5200" b="1" i="0">
                <a:solidFill>
                  <a:srgbClr val="FFFFFF"/>
                </a:solidFill>
                <a:latin typeface="Trebuchet MS"/>
              </a:rPr>
              <a:t>Ponte Trucha Kids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9D6F2"/>
                </a:solidFill>
                <a:latin typeface="Calibri"/>
              </a:rPr>
              <a:t>El juego donde niños de 8 a 13 años aprenden a detectar estafas digitales —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practicando en un teléfono simulado antes de encontrarlas en serio.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43484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C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31B4D"/>
                </a:solidFill>
                <a:latin typeface="Calibri"/>
              </a:rPr>
              <a:t>Hackathon Kiro + AWS · Código Facilito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44348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58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43484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Equipo KikiriKillers 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9D6F2"/>
                </a:solidFill>
                <a:latin typeface="Calibri"/>
              </a:rPr>
              <a:t>🎮  Demo en vivo:  </a:t>
            </a:r>
            <a:r>
              <a:rPr sz="1600" b="1" i="0">
                <a:solidFill>
                  <a:srgbClr val="53E0C4"/>
                </a:solidFill>
                <a:latin typeface="Calibri"/>
              </a:rPr>
              <a:t>ponte-trucha.vercel.app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31B4D"/>
                </a:solidFill>
                <a:latin typeface="Trebuchet MS"/>
              </a:rPr>
              <a:t>Las estafas ya les llegan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50976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A6491"/>
                </a:solidFill>
                <a:latin typeface="Calibri"/>
              </a:rPr>
              <a:t>No mañana, no “cuando sean grandes”: hoy, en el celular donde juegan y chatean.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989320" cy="12344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82296" cy="1234440"/>
          </a:xfrm>
          <a:prstGeom prst="rect">
            <a:avLst/>
          </a:prstGeom>
          <a:solidFill>
            <a:srgbClr val="F0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984248"/>
            <a:ext cx="475488" cy="475488"/>
          </a:xfrm>
          <a:prstGeom prst="ellipse">
            <a:avLst/>
          </a:prstGeom>
          <a:solidFill>
            <a:srgbClr val="F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84248"/>
            <a:ext cx="65836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231B4D"/>
                </a:solidFill>
                <a:latin typeface="Calibri"/>
              </a:rP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64792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A6491"/>
                </a:solidFill>
                <a:latin typeface="Calibri"/>
              </a:rPr>
              <a:t>Roblox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31B4D"/>
                </a:solidFill>
                <a:latin typeface="Calibri"/>
              </a:rPr>
              <a:t>“¡GANASTE 10 000 ROBUX GRATIS! Solo pon tu usuario y contraseña aquí 👉”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81528"/>
            <a:ext cx="5989320" cy="12344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81528"/>
            <a:ext cx="82296" cy="1234440"/>
          </a:xfrm>
          <a:prstGeom prst="rect">
            <a:avLst/>
          </a:prstGeom>
          <a:solidFill>
            <a:srgbClr val="F0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465576"/>
            <a:ext cx="475488" cy="475488"/>
          </a:xfrm>
          <a:prstGeom prst="ellipse">
            <a:avLst/>
          </a:prstGeom>
          <a:solidFill>
            <a:srgbClr val="F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465576"/>
            <a:ext cx="65836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231B4D"/>
                </a:solidFill>
                <a:latin typeface="Calibri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4612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A6491"/>
                </a:solidFill>
                <a:latin typeface="Calibri"/>
              </a:rPr>
              <a:t>WhatsApp · número desconocido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31B4D"/>
                </a:solidFill>
                <a:latin typeface="Calibri"/>
              </a:rPr>
              <a:t>“Mamá, se me malogró el cel. Escríbeme a este número y hazme un yape 🙏”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62856"/>
            <a:ext cx="5989320" cy="12344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62856"/>
            <a:ext cx="82296" cy="1234440"/>
          </a:xfrm>
          <a:prstGeom prst="rect">
            <a:avLst/>
          </a:prstGeom>
          <a:solidFill>
            <a:srgbClr val="F0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946904"/>
            <a:ext cx="475488" cy="475488"/>
          </a:xfrm>
          <a:prstGeom prst="ellipse">
            <a:avLst/>
          </a:prstGeom>
          <a:solidFill>
            <a:srgbClr val="F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46904"/>
            <a:ext cx="65836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231B4D"/>
                </a:solidFill>
                <a:latin typeface="Calibri"/>
              </a:rPr>
              <a:t>✉️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727448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A6491"/>
                </a:solidFill>
                <a:latin typeface="Calibri"/>
              </a:rPr>
              <a:t>Gmail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31B4D"/>
                </a:solidFill>
                <a:latin typeface="Calibri"/>
              </a:rPr>
              <a:t>“Tu cuenta fue suspendida. Verifícala HOY MISMO o la perderás para siempre.”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1600200"/>
            <a:ext cx="4892040" cy="4197096"/>
          </a:xfrm>
          <a:prstGeom prst="roundRect">
            <a:avLst>
              <a:gd name="adj" fmla="val 8000"/>
            </a:avLst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965960"/>
            <a:ext cx="4206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443BB0"/>
                </a:solidFill>
                <a:latin typeface="Trebuchet MS"/>
              </a:rPr>
              <a:t>Saber la regla no es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200" b="1" i="0">
                <a:solidFill>
                  <a:srgbClr val="443BB0"/>
                </a:solidFill>
                <a:latin typeface="Trebuchet MS"/>
              </a:rPr>
              <a:t>reconocer la estafa.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50" b="0" i="0">
                <a:solidFill>
                  <a:srgbClr val="231B4D"/>
                </a:solidFill>
                <a:latin typeface="Calibri"/>
              </a:rPr>
              <a:t>Las charlas y los videos explican; </a:t>
            </a:r>
            <a:r>
              <a:rPr sz="1450" b="1" i="0">
                <a:solidFill>
                  <a:srgbClr val="231B4D"/>
                </a:solidFill>
                <a:latin typeface="Calibri"/>
              </a:rPr>
              <a:t>no dan práctica</a:t>
            </a:r>
            <a:r>
              <a:rPr sz="1450" b="0" i="0">
                <a:solidFill>
                  <a:srgbClr val="231B4D"/>
                </a:solidFill>
                <a:latin typeface="Calibri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50" b="0" i="0">
                <a:solidFill>
                  <a:srgbClr val="231B4D"/>
                </a:solidFill>
                <a:latin typeface="Calibri"/>
              </a:rPr>
              <a:t>La urgencia y los premios funcionan mejor con un niño que con un adulto.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50" b="0" i="0">
                <a:solidFill>
                  <a:srgbClr val="231B4D"/>
                </a:solidFill>
                <a:latin typeface="Calibri"/>
              </a:rPr>
              <a:t>Y no existe un lugar seguro donde equivocarse sin perder nada.</a:t>
            </a:r>
          </a:p>
          <a:p>
            <a:pPr algn="l"/>
            <a:r>
              <a:rPr sz="1350" b="0" i="1">
                <a:solidFill>
                  <a:srgbClr val="6A6491"/>
                </a:solidFill>
                <a:latin typeface="Calibri"/>
              </a:rPr>
              <a:t>Es como aprender a manejar leyendo el manual.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31B4D"/>
                </a:solidFill>
                <a:latin typeface="Trebuchet MS"/>
              </a:rPr>
              <a:t>Un teléfono completo para equivocarse gratis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50976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A6491"/>
                </a:solidFill>
                <a:latin typeface="Calibri"/>
              </a:rPr>
              <a:t>El niño practica contra los anzuelos reales, por el canal por el que llegarían de verdad.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664208"/>
            <a:ext cx="530352" cy="530352"/>
          </a:xfrm>
          <a:prstGeom prst="ellipse">
            <a:avLst/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64208"/>
            <a:ext cx="71323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231B4D"/>
                </a:solidFill>
                <a:latin typeface="Calibri"/>
              </a:rPr>
              <a:t>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27632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31B4D"/>
                </a:solidFill>
                <a:latin typeface="Trebuchet MS"/>
              </a:rPr>
              <a:t>5 apps simuladas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A6491"/>
                </a:solidFill>
                <a:latin typeface="Calibri"/>
              </a:rPr>
              <a:t>WhatsApp, Mensajes, Discord, Roblox y Gmail, recreadas dentro del juego.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25496"/>
            <a:ext cx="530352" cy="530352"/>
          </a:xfrm>
          <a:prstGeom prst="ellipse">
            <a:avLst/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825496"/>
            <a:ext cx="71323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231B4D"/>
                </a:solidFill>
                <a:latin typeface="Calibri"/>
              </a:rPr>
              <a:t>🕵️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31B4D"/>
                </a:solidFill>
                <a:latin typeface="Trebuchet MS"/>
              </a:rPr>
              <a:t>Estafador conversacional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A6491"/>
                </a:solidFill>
                <a:latin typeface="Calibri"/>
              </a:rPr>
              <a:t>El niño puede seguirle el hilo y ver cómo presiona. Guion curado con guardrails.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986784"/>
            <a:ext cx="530352" cy="530352"/>
          </a:xfrm>
          <a:prstGeom prst="ellipse">
            <a:avLst/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986784"/>
            <a:ext cx="71323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231B4D"/>
                </a:solidFill>
                <a:latin typeface="Calibri"/>
              </a:rP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950208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31B4D"/>
                </a:solidFill>
                <a:latin typeface="Trebuchet MS"/>
              </a:rPr>
              <a:t>¿Trampa o de confianza?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A6491"/>
                </a:solidFill>
                <a:latin typeface="Calibri"/>
              </a:rPr>
              <a:t>Cada mensaje exige una decisión; también hay mensajes legítimos.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5148072"/>
            <a:ext cx="530352" cy="530352"/>
          </a:xfrm>
          <a:prstGeom prst="ellipse">
            <a:avLst/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148072"/>
            <a:ext cx="71323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231B4D"/>
                </a:solidFill>
                <a:latin typeface="Calibr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11496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31B4D"/>
                </a:solidFill>
                <a:latin typeface="Trebuchet MS"/>
              </a:rPr>
              <a:t>Feedback que enseña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6A6491"/>
                </a:solidFill>
                <a:latin typeface="Calibri"/>
              </a:rPr>
              <a:t>La pista exacta que se le pasó y la regla para la próxima. Sin regaños.</a:t>
            </a:r>
          </a:p>
        </p:txBody>
      </p:sp>
      <p:pic>
        <p:nvPicPr>
          <p:cNvPr id="17" name="Picture 1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514600"/>
            <a:ext cx="5166360" cy="269619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19672" y="5347954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A6491"/>
                </a:solidFill>
                <a:latin typeface="Calibri"/>
              </a:rPr>
              <a:t>Los tres anzuelos clásicos, tal cual llegan al teléfono.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31B4D"/>
                </a:solidFill>
                <a:latin typeface="Trebuchet MS"/>
              </a:rPr>
              <a:t>Así se juega una partida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798064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2376" y="1636776"/>
            <a:ext cx="420624" cy="420624"/>
          </a:xfrm>
          <a:prstGeom prst="ellipse">
            <a:avLst/>
          </a:prstGeom>
          <a:solidFill>
            <a:srgbClr val="443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63677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55064"/>
            <a:ext cx="183794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31B4D"/>
                </a:solidFill>
                <a:latin typeface="Trebuchet MS"/>
              </a:rPr>
              <a:t>Llega el anzuelo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258568"/>
            <a:ext cx="23225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A6491"/>
                </a:solidFill>
                <a:latin typeface="Calibri"/>
              </a:rPr>
              <a:t>Una notificación real aparece en el teléfono simulado.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417320"/>
            <a:ext cx="2798064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2" y="1636776"/>
            <a:ext cx="420624" cy="420624"/>
          </a:xfrm>
          <a:prstGeom prst="ellipse">
            <a:avLst/>
          </a:prstGeom>
          <a:solidFill>
            <a:srgbClr val="443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63677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1655064"/>
            <a:ext cx="183794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31B4D"/>
                </a:solidFill>
                <a:latin typeface="Trebuchet MS"/>
              </a:rPr>
              <a:t>El niño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58568"/>
            <a:ext cx="23225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A6491"/>
                </a:solidFill>
                <a:latin typeface="Calibri"/>
              </a:rPr>
              <a:t>Investiga el mensaje y elige: ¿trampa o de confianza?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2798064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" y="3922776"/>
            <a:ext cx="420624" cy="420624"/>
          </a:xfrm>
          <a:prstGeom prst="ellipse">
            <a:avLst/>
          </a:prstGeom>
          <a:solidFill>
            <a:srgbClr val="F0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92277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41063"/>
            <a:ext cx="183794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31B4D"/>
                </a:solidFill>
                <a:latin typeface="Trebuchet MS"/>
              </a:rPr>
              <a:t>La pista exacta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544568"/>
            <a:ext cx="23225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A6491"/>
                </a:solidFill>
                <a:latin typeface="Calibri"/>
              </a:rPr>
              <a:t>“fuiste elegido”, “hoy mismo”, el link raro: lo que se le pasó.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5576" y="3703320"/>
            <a:ext cx="2798064" cy="20848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85032" y="3922776"/>
            <a:ext cx="420624" cy="420624"/>
          </a:xfrm>
          <a:prstGeom prst="ellipse">
            <a:avLst/>
          </a:prstGeom>
          <a:solidFill>
            <a:srgbClr val="14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3922776"/>
            <a:ext cx="420624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3941063"/>
            <a:ext cx="183794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31B4D"/>
                </a:solidFill>
                <a:latin typeface="Trebuchet MS"/>
              </a:rPr>
              <a:t>Puntos y racha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544568"/>
            <a:ext cx="23225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A6491"/>
                </a:solidFill>
                <a:latin typeface="Calibri"/>
              </a:rPr>
              <a:t>Medallas y nivel de trucha. Un niño que suma vuelve mañana.</a:t>
            </a:r>
          </a:p>
        </p:txBody>
      </p:sp>
      <p:pic>
        <p:nvPicPr>
          <p:cNvPr id="24" name="Picture 23" descr="partida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42766" cy="4343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55080" y="5870448"/>
            <a:ext cx="53427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A6491"/>
                </a:solidFill>
                <a:latin typeface="Calibri"/>
              </a:rPr>
              <a:t>Una partida real, contra el backend desplegado en AWS.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Trebuchet MS"/>
              </a:rPr>
              <a:t>El proyecto en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1723" y="1600200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1723" y="1764792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C24D"/>
                </a:solidFill>
                <a:latin typeface="Trebuchet M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723" y="2715768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D9D6F2"/>
                </a:solidFill>
                <a:latin typeface="Calibri"/>
              </a:rPr>
              <a:t>apps simuladas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5627" y="1600200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5627" y="1764792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53E0C4"/>
                </a:solidFill>
                <a:latin typeface="Trebuchet M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5627" y="2715768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D9D6F2"/>
                </a:solidFill>
                <a:latin typeface="Calibri"/>
              </a:rPr>
              <a:t>escenarios curados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9531" y="1600200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9531" y="1764792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C24D"/>
                </a:solidFill>
                <a:latin typeface="Trebuchet MS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9531" y="2715768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D9D6F2"/>
                </a:solidFill>
                <a:latin typeface="Calibri"/>
              </a:rPr>
              <a:t>tipos de estafa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723" y="3502152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723" y="3666744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53E0C4"/>
                </a:solidFill>
                <a:latin typeface="Trebuchet MS"/>
              </a:rPr>
              <a:t>145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723" y="461772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D9D6F2"/>
                </a:solidFill>
                <a:latin typeface="Calibri"/>
              </a:rPr>
              <a:t>tests automatizados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5627" y="3502152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5627" y="3666744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C24D"/>
                </a:solidFill>
                <a:latin typeface="Trebuchet M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5627" y="461772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D9D6F2"/>
                </a:solidFill>
                <a:latin typeface="Calibri"/>
              </a:rPr>
              <a:t>ADRs registrados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9531" y="3502152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9531" y="3666744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53E0C4"/>
                </a:solidFill>
                <a:latin typeface="Trebuchet M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9531" y="461772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0" i="0">
                <a:solidFill>
                  <a:srgbClr val="D9D6F2"/>
                </a:solidFill>
                <a:latin typeface="Calibri"/>
              </a:rPr>
              <a:t>specs de Kiro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D9D6F2"/>
                </a:solidFill>
                <a:latin typeface="Calibri"/>
              </a:rPr>
              <a:t>Desplegado y verificado de punta a punta: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juega hoy contra el backend real en 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31B4D"/>
                </a:solidFill>
                <a:latin typeface="Trebuchet MS"/>
              </a:rPr>
              <a:t>Construido con Kiro: specs como fuente de verdad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50976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A6491"/>
                </a:solidFill>
                <a:latin typeface="Calibri"/>
              </a:rPr>
              <a:t>Spec-driven de verdad, no autocompletado: nada se programó sin su requisito, su diseño y su tarea.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00200"/>
            <a:ext cx="18653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443BB0"/>
                </a:solidFill>
                <a:latin typeface="Consolas"/>
              </a:rPr>
              <a:t>requirements.md</a:t>
            </a:r>
          </a:p>
          <a:p>
            <a:pPr algn="ctr"/>
            <a:r>
              <a:rPr sz="1100" b="0" i="0">
                <a:solidFill>
                  <a:srgbClr val="6A6491"/>
                </a:solidFill>
                <a:latin typeface="Calibri"/>
              </a:rPr>
              <a:t>QUÉ · formato 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600200"/>
            <a:ext cx="292608" cy="9601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443BB0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60020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600200"/>
            <a:ext cx="18653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443BB0"/>
                </a:solidFill>
                <a:latin typeface="Consolas"/>
              </a:rPr>
              <a:t>design.md + ADRs</a:t>
            </a:r>
          </a:p>
          <a:p>
            <a:pPr algn="ctr"/>
            <a:r>
              <a:rPr sz="1100" b="0" i="0">
                <a:solidFill>
                  <a:srgbClr val="6A6491"/>
                </a:solidFill>
                <a:latin typeface="Calibri"/>
              </a:rPr>
              <a:t>CÓMO · decisiones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1600200"/>
            <a:ext cx="292608" cy="9601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443BB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60020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4648" y="1600200"/>
            <a:ext cx="18653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443BB0"/>
                </a:solidFill>
                <a:latin typeface="Consolas"/>
              </a:rPr>
              <a:t>tasks.md</a:t>
            </a:r>
          </a:p>
          <a:p>
            <a:pPr algn="ctr"/>
            <a:r>
              <a:rPr sz="1100" b="0" i="0">
                <a:solidFill>
                  <a:srgbClr val="6A6491"/>
                </a:solidFill>
                <a:latin typeface="Calibri"/>
              </a:rPr>
              <a:t>PASOS ·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3176" y="1600200"/>
            <a:ext cx="292608" cy="9601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443BB0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3" y="160020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936" y="1600200"/>
            <a:ext cx="18653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443BB0"/>
                </a:solidFill>
                <a:latin typeface="Consolas"/>
              </a:rPr>
              <a:t>test rojo</a:t>
            </a:r>
          </a:p>
          <a:p>
            <a:pPr algn="ctr"/>
            <a:r>
              <a:rPr sz="1100" b="0" i="0">
                <a:solidFill>
                  <a:srgbClr val="6A6491"/>
                </a:solidFill>
                <a:latin typeface="Calibri"/>
              </a:rPr>
              <a:t>primero falla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7463" y="1600200"/>
            <a:ext cx="292608" cy="9601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443BB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600200"/>
            <a:ext cx="201168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3224" y="1600200"/>
            <a:ext cx="18653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443BB0"/>
                </a:solidFill>
                <a:latin typeface="Consolas"/>
              </a:rPr>
              <a:t>código</a:t>
            </a:r>
          </a:p>
          <a:p>
            <a:pPr algn="ctr"/>
            <a:r>
              <a:rPr sz="1100" b="0" i="0">
                <a:solidFill>
                  <a:srgbClr val="6A6491"/>
                </a:solidFill>
                <a:latin typeface="Calibri"/>
              </a:rPr>
              <a:t>verificado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63240"/>
            <a:ext cx="3602736" cy="2514600"/>
          </a:xfrm>
          <a:prstGeom prst="roundRect">
            <a:avLst>
              <a:gd name="adj" fmla="val 8000"/>
            </a:avLst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331012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10128"/>
            <a:ext cx="6858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77639"/>
            <a:ext cx="3054096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231B4D"/>
                </a:solidFill>
                <a:latin typeface="Trebuchet MS"/>
              </a:rPr>
              <a:t>Steering que gobierna al agente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A6491"/>
                </a:solidFill>
                <a:latin typeface="Calibri"/>
              </a:rPr>
              <a:t>Estándares de código, arquitectura, tono infantil y seguridad infantil: reglas que Kiro respeta en cada cambio.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063240"/>
            <a:ext cx="3602736" cy="2514600"/>
          </a:xfrm>
          <a:prstGeom prst="roundRect">
            <a:avLst>
              <a:gd name="adj" fmla="val 8000"/>
            </a:avLst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90288" y="331012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310128"/>
            <a:ext cx="6858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977639"/>
            <a:ext cx="3054096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231B4D"/>
                </a:solidFill>
                <a:latin typeface="Trebuchet MS"/>
              </a:rPr>
              <a:t>6 ADRs con las decisiones difíciles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A6491"/>
                </a:solidFill>
                <a:latin typeface="Calibri"/>
              </a:rPr>
              <a:t>Por qué Bedrock está apagado, por qué DynamoDB provisionado, cómo vive la sesión en la SPA: contexto y consecuencias por escrito.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3063240"/>
            <a:ext cx="3602736" cy="2514600"/>
          </a:xfrm>
          <a:prstGeom prst="roundRect">
            <a:avLst>
              <a:gd name="adj" fmla="val 8000"/>
            </a:avLst>
          </a:prstGeom>
          <a:solidFill>
            <a:srgbClr val="E2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03336" y="331012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3310128"/>
            <a:ext cx="6858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3977639"/>
            <a:ext cx="3054096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231B4D"/>
                </a:solidFill>
                <a:latin typeface="Trebuchet MS"/>
              </a:rPr>
              <a:t>El rojo antes que el verde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A6491"/>
                </a:solidFill>
                <a:latin typeface="Calibri"/>
              </a:rPr>
              <a:t>5 specs completas terminaron en 145 tests y un validador propio del banco de escenarios.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443BB0"/>
                </a:solidFill>
                <a:latin typeface="Calibri"/>
              </a:rPr>
              <a:t>Cuando alguien pregunta “¿y por qué así?”, hay un documento que responde.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31B4D"/>
                </a:solidFill>
                <a:latin typeface="Trebuchet MS"/>
              </a:rPr>
              <a:t>Serverless en AWS, dentro del free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50976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A6491"/>
                </a:solidFill>
                <a:latin typeface="Calibri"/>
              </a:rPr>
              <a:t>Sin RDS, sin EC2, sin VPC, sin NAT Gateway. Todo en Terraform, probado en emulador local antes de tocar AWS.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529584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82296" cy="1298448"/>
          </a:xfrm>
          <a:prstGeom prst="rect">
            <a:avLst/>
          </a:prstGeom>
          <a:solidFill>
            <a:srgbClr val="443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92224"/>
            <a:ext cx="3072384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31B4D"/>
                </a:solidFill>
                <a:latin typeface="Trebuchet MS"/>
              </a:rPr>
              <a:t>Amazon Cognito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A6491"/>
                </a:solidFill>
                <a:latin typeface="Calibri"/>
              </a:rPr>
              <a:t>Identidad solo del adulto · Hosted UI · PKCE · scopes por permiso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645920"/>
            <a:ext cx="3529584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59" y="1645920"/>
            <a:ext cx="82296" cy="1298448"/>
          </a:xfrm>
          <a:prstGeom prst="rect">
            <a:avLst/>
          </a:prstGeom>
          <a:solidFill>
            <a:srgbClr val="443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792224"/>
            <a:ext cx="3072384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31B4D"/>
                </a:solidFill>
                <a:latin typeface="Trebuchet MS"/>
              </a:rPr>
              <a:t>API Gateway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A6491"/>
                </a:solidFill>
                <a:latin typeface="Calibri"/>
              </a:rPr>
              <a:t>HTTP API · JWT authorizer · throttling por stage · errores RFC 9457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45536"/>
            <a:ext cx="3529584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45536"/>
            <a:ext cx="82296" cy="1298448"/>
          </a:xfrm>
          <a:prstGeom prst="rect">
            <a:avLst/>
          </a:prstGeom>
          <a:solidFill>
            <a:srgbClr val="443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291840"/>
            <a:ext cx="3072384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31B4D"/>
                </a:solidFill>
                <a:latin typeface="Trebuchet MS"/>
              </a:rPr>
              <a:t>AWS Lambda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A6491"/>
                </a:solidFill>
                <a:latin typeface="Calibri"/>
              </a:rPr>
              <a:t>2 funciones Python 3.14 (arm64) + FastAPI · concurrencia reservada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3145536"/>
            <a:ext cx="3529584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3145536"/>
            <a:ext cx="82296" cy="1298448"/>
          </a:xfrm>
          <a:prstGeom prst="rect">
            <a:avLst/>
          </a:prstGeom>
          <a:solidFill>
            <a:srgbClr val="443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291840"/>
            <a:ext cx="3072384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31B4D"/>
                </a:solidFill>
                <a:latin typeface="Trebuchet MS"/>
              </a:rPr>
              <a:t>Amazon DynamoDB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A6491"/>
                </a:solidFill>
                <a:latin typeface="Calibri"/>
              </a:rPr>
              <a:t>Capacidad provisionada fija · TTL · cifrado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45152"/>
            <a:ext cx="3529584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645152"/>
            <a:ext cx="82296" cy="1298448"/>
          </a:xfrm>
          <a:prstGeom prst="rect">
            <a:avLst/>
          </a:prstGeom>
          <a:solidFill>
            <a:srgbClr val="443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791456"/>
            <a:ext cx="3072384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31B4D"/>
                </a:solidFill>
                <a:latin typeface="Trebuchet MS"/>
              </a:rPr>
              <a:t>Amazon Bedrock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A6491"/>
                </a:solidFill>
                <a:latin typeface="Calibri"/>
              </a:rPr>
              <a:t>Nova Lite con retención cero · tras bandera, apagado por defecto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59" y="4645152"/>
            <a:ext cx="3529584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4645152"/>
            <a:ext cx="82296" cy="1298448"/>
          </a:xfrm>
          <a:prstGeom prst="rect">
            <a:avLst/>
          </a:prstGeom>
          <a:solidFill>
            <a:srgbClr val="443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4791456"/>
            <a:ext cx="3072384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31B4D"/>
                </a:solidFill>
                <a:latin typeface="Trebuchet MS"/>
              </a:rPr>
              <a:t>Terraform + CloudWatch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A6491"/>
                </a:solidFill>
                <a:latin typeface="Calibri"/>
              </a:rPr>
              <a:t>IaC modular con terraform test · alarmas de throttling y presupuesto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1645920"/>
            <a:ext cx="3632911" cy="4297680"/>
          </a:xfrm>
          <a:prstGeom prst="roundRect">
            <a:avLst>
              <a:gd name="adj" fmla="val 8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1965960"/>
            <a:ext cx="2992831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50" b="1" i="0">
                <a:solidFill>
                  <a:srgbClr val="FFC24D"/>
                </a:solidFill>
                <a:latin typeface="Trebuchet MS"/>
              </a:rPr>
              <a:t>💸  Regla dura de costos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0" i="0">
                <a:solidFill>
                  <a:srgbClr val="D9D6F2"/>
                </a:solidFill>
                <a:latin typeface="Calibri"/>
              </a:rPr>
              <a:t>Un error de configuración debe degradar el servicio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antes de generar un cobro.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D9D6F2"/>
                </a:solidFill>
                <a:latin typeface="Calibri"/>
              </a:rPr>
              <a:t>Capacidad fija bajo el allowance permanente: excederla produce throttling, no factura.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D9D6F2"/>
                </a:solidFill>
                <a:latin typeface="Calibri"/>
              </a:rPr>
              <a:t>Bedrock con kill switch, cuota y fallback al guion curado.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9D6F2"/>
                </a:solidFill>
                <a:latin typeface="Calibri"/>
              </a:rPr>
              <a:t>Presupuesto y alarmas activos desde el primer día.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0292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Trebuchet MS"/>
              </a:rPr>
              <a:t>Privacidad infantil: no negociable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D9D6F2"/>
                </a:solidFill>
                <a:latin typeface="Calibri"/>
              </a:rPr>
              <a:t>Una herramienta que enseña a cuidar tus datos no puede ser la primera en pedírtelos.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707" y="1965960"/>
            <a:ext cx="5532120" cy="1737360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8027" y="2240279"/>
            <a:ext cx="502920" cy="502920"/>
          </a:xfrm>
          <a:prstGeom prst="ellipse">
            <a:avLst/>
          </a:prstGeom>
          <a:solidFill>
            <a:srgbClr val="3C3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587" y="2240279"/>
            <a:ext cx="6858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👨‍👩‍👧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3827" y="2221991"/>
            <a:ext cx="4251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53E0C4"/>
                </a:solidFill>
                <a:latin typeface="Trebuchet MS"/>
              </a:rPr>
              <a:t>La cuenta es del adulto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9D6F2"/>
                </a:solidFill>
                <a:latin typeface="Calibri"/>
              </a:rPr>
              <a:t>Age gate, registro con Cognito y cada permiso decidido por separado. El niño solo juega.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965960"/>
            <a:ext cx="5532120" cy="1737360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0187" y="2240279"/>
            <a:ext cx="502920" cy="502920"/>
          </a:xfrm>
          <a:prstGeom prst="ellipse">
            <a:avLst/>
          </a:prstGeom>
          <a:solidFill>
            <a:srgbClr val="3C3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7" y="2240279"/>
            <a:ext cx="6858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5987" y="2221991"/>
            <a:ext cx="4251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53E0C4"/>
                </a:solidFill>
                <a:latin typeface="Trebuchet MS"/>
              </a:rPr>
              <a:t>Del niño no guardamos nada personal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9D6F2"/>
                </a:solidFill>
                <a:latin typeface="Calibri"/>
              </a:rPr>
              <a:t>Ni nombre real, ni correo, ni contraseña, ni fecha de nacimiento. Solo alias de catálogo, avatar y banda de edad.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707" y="4050791"/>
            <a:ext cx="5532120" cy="1737360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8027" y="4325112"/>
            <a:ext cx="502920" cy="502920"/>
          </a:xfrm>
          <a:prstGeom prst="ellipse">
            <a:avLst/>
          </a:prstGeom>
          <a:solidFill>
            <a:srgbClr val="3C3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6587" y="4325112"/>
            <a:ext cx="6858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3827" y="4306824"/>
            <a:ext cx="4251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53E0C4"/>
                </a:solidFill>
                <a:latin typeface="Trebuchet MS"/>
              </a:rPr>
              <a:t>El chat es efímero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9D6F2"/>
                </a:solidFill>
                <a:latin typeface="Calibri"/>
              </a:rPr>
              <a:t>Lo que el niño escribe no se persiste ni aparece en logs. La fecha de nacimiento del adulto se evalúa en el navegador y se descarta.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4050791"/>
            <a:ext cx="5532120" cy="1737360"/>
          </a:xfrm>
          <a:prstGeom prst="roundRect">
            <a:avLst>
              <a:gd name="adj" fmla="val 10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0187" y="4325112"/>
            <a:ext cx="502920" cy="502920"/>
          </a:xfrm>
          <a:prstGeom prst="ellipse">
            <a:avLst/>
          </a:prstGeom>
          <a:solidFill>
            <a:srgbClr val="3C3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8747" y="4325112"/>
            <a:ext cx="6858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5987" y="4306824"/>
            <a:ext cx="4251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53E0C4"/>
                </a:solidFill>
                <a:latin typeface="Trebuchet MS"/>
              </a:rPr>
              <a:t>Apagado por defecto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9D6F2"/>
                </a:solidFill>
                <a:latin typeface="Calibri"/>
              </a:rPr>
              <a:t>IA en la nube y analítica son opt-in, versionados y revocables. Bedrock solo entrará con retención cero verificada (ADR-006).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D9D6F2"/>
                </a:solidFill>
                <a:latin typeface="Calibri"/>
              </a:rPr>
              <a:t>Antes de producción real: revisión legal del mecanismo de consentimiento. Está en la hoja de ruta, por escrito.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231B4D"/>
                </a:solidFill>
                <a:latin typeface="Trebuchet MS"/>
              </a:rPr>
              <a:t>Hoja de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50976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A6491"/>
                </a:solidFill>
                <a:latin typeface="Calibri"/>
              </a:rPr>
              <a:t>Una demo funcional completa de punta a punta, acotada a conciencia y diseñada para crecer sin rehacerse.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691640"/>
            <a:ext cx="530352" cy="530352"/>
          </a:xfrm>
          <a:prstGeom prst="ellipse">
            <a:avLst/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71323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☁️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258568"/>
            <a:ext cx="28575" cy="475488"/>
          </a:xfrm>
          <a:prstGeom prst="rect">
            <a:avLst/>
          </a:prstGeom>
          <a:solidFill>
            <a:srgbClr val="E0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73352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31B4D"/>
                </a:solidFill>
                <a:latin typeface="Trebuchet MS"/>
              </a:rPr>
              <a:t>Hosting final en S3 + CloudFront</a:t>
            </a:r>
          </a:p>
          <a:p>
            <a:pPr algn="l"/>
            <a:r>
              <a:rPr sz="1350" b="0" i="0">
                <a:solidFill>
                  <a:srgbClr val="6A6491"/>
                </a:solidFill>
                <a:latin typeface="Calibri"/>
              </a:rPr>
              <a:t>Hoy: Vercel con rewrites hacia API Gateway.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734056"/>
            <a:ext cx="530352" cy="530352"/>
          </a:xfrm>
          <a:prstGeom prst="ellipse">
            <a:avLst/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34056"/>
            <a:ext cx="71323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3300984"/>
            <a:ext cx="28575" cy="475488"/>
          </a:xfrm>
          <a:prstGeom prst="rect">
            <a:avLst/>
          </a:prstGeom>
          <a:solidFill>
            <a:srgbClr val="E0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715768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31B4D"/>
                </a:solidFill>
                <a:latin typeface="Trebuchet MS"/>
              </a:rPr>
              <a:t>Activar Bedrock Nova Lite</a:t>
            </a:r>
          </a:p>
          <a:p>
            <a:pPr algn="l"/>
            <a:r>
              <a:rPr sz="1350" b="0" i="0">
                <a:solidFill>
                  <a:srgbClr val="6A6491"/>
                </a:solidFill>
                <a:latin typeface="Calibri"/>
              </a:rPr>
              <a:t>Tras verificar retención cero en producción; mientras, responde el guion curado.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776472"/>
            <a:ext cx="530352" cy="530352"/>
          </a:xfrm>
          <a:prstGeom prst="ellipse">
            <a:avLst/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76472"/>
            <a:ext cx="71323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343400"/>
            <a:ext cx="28575" cy="475488"/>
          </a:xfrm>
          <a:prstGeom prst="rect">
            <a:avLst/>
          </a:prstGeom>
          <a:solidFill>
            <a:srgbClr val="E0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758184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31B4D"/>
                </a:solidFill>
                <a:latin typeface="Trebuchet MS"/>
              </a:rPr>
              <a:t>Observabilidad completa</a:t>
            </a:r>
          </a:p>
          <a:p>
            <a:pPr algn="l"/>
            <a:r>
              <a:rPr sz="1350" b="0" i="0">
                <a:solidFill>
                  <a:srgbClr val="6A6491"/>
                </a:solidFill>
                <a:latin typeface="Calibri"/>
              </a:rPr>
              <a:t>CloudWatch, Sentry sanitizado y Mixpanel opt-in, ya especificados.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818888"/>
            <a:ext cx="530352" cy="530352"/>
          </a:xfrm>
          <a:prstGeom prst="ellipse">
            <a:avLst/>
          </a:prstGeom>
          <a:solidFill>
            <a:srgbClr val="EC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18888"/>
            <a:ext cx="71323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31B4D"/>
                </a:solidFill>
                <a:latin typeface="Calibri"/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006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31B4D"/>
                </a:solidFill>
                <a:latin typeface="Trebuchet MS"/>
              </a:rPr>
              <a:t>Más escenarios y revisión legal</a:t>
            </a:r>
          </a:p>
          <a:p>
            <a:pPr algn="l"/>
            <a:r>
              <a:rPr sz="1350" b="0" i="0">
                <a:solidFill>
                  <a:srgbClr val="6A6491"/>
                </a:solidFill>
                <a:latin typeface="Calibri"/>
              </a:rPr>
              <a:t>Más tipos de estafa y mensajes legítimos, con la validación automática intacta.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50000"/>
            </a:avLst>
          </a:prstGeom>
          <a:solidFill>
            <a:srgbClr val="F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05057"/>
                </a:solidFill>
                <a:latin typeface="Calibri"/>
              </a:rPr>
              <a:t>El criterio no cambia: ninguna mejora entra si compromete la privacidad infantil o los guardrails de costo.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051560"/>
            <a:ext cx="11155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 i="0">
                <a:solidFill>
                  <a:srgbClr val="FFFFFF"/>
                </a:solidFill>
                <a:latin typeface="Calibri"/>
              </a:rPr>
              <a:t>🐟</a:t>
            </a:r>
          </a:p>
          <a:p>
            <a:pPr algn="ctr"/>
            <a:r>
              <a:rPr sz="5400" b="1" i="0">
                <a:solidFill>
                  <a:srgbClr val="FFFFFF"/>
                </a:solidFill>
                <a:latin typeface="Trebuchet MS"/>
              </a:rPr>
              <a:t>¡Ponte trucha!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D9D6F2"/>
                </a:solidFill>
                <a:latin typeface="Calibri"/>
              </a:rPr>
              <a:t>Pruébalo ahora:  </a:t>
            </a:r>
            <a:r>
              <a:rPr sz="2400" b="1" i="0">
                <a:solidFill>
                  <a:srgbClr val="FFC24D"/>
                </a:solidFill>
                <a:latin typeface="Calibri"/>
              </a:rPr>
              <a:t>ponte-trucha.vercel.app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49527" y="4160520"/>
            <a:ext cx="3017520" cy="1234440"/>
          </a:xfrm>
          <a:prstGeom prst="roundRect">
            <a:avLst>
              <a:gd name="adj" fmla="val 12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9527" y="4343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53E0C4"/>
                </a:solidFill>
                <a:latin typeface="Trebuchet MS"/>
              </a:rPr>
              <a:t>Jerick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D9D6F2"/>
                </a:solidFill>
                <a:latin typeface="Calibri"/>
              </a:rPr>
              <a:t>Frontend, experiencia
de juego y despliegue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87087" y="4160520"/>
            <a:ext cx="3017520" cy="1234440"/>
          </a:xfrm>
          <a:prstGeom prst="roundRect">
            <a:avLst>
              <a:gd name="adj" fmla="val 12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7087" y="4343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53E0C4"/>
                </a:solidFill>
                <a:latin typeface="Trebuchet MS"/>
              </a:rPr>
              <a:t>Francis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D9D6F2"/>
                </a:solidFill>
                <a:latin typeface="Calibri"/>
              </a:rPr>
              <a:t>Backend, IA e
infraestructura 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647" y="4160520"/>
            <a:ext cx="3017520" cy="1234440"/>
          </a:xfrm>
          <a:prstGeom prst="roundRect">
            <a:avLst>
              <a:gd name="adj" fmla="val 12000"/>
            </a:avLst>
          </a:prstGeom>
          <a:solidFill>
            <a:srgbClr val="2A2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647" y="4343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53E0C4"/>
                </a:solidFill>
                <a:latin typeface="Trebuchet MS"/>
              </a:rPr>
              <a:t>Clau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D9D6F2"/>
                </a:solidFill>
                <a:latin typeface="Calibri"/>
              </a:rPr>
              <a:t>Producto, contenido
y reglas del juego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9D6F2"/>
                </a:solidFill>
                <a:latin typeface="Calibri"/>
              </a:rPr>
              <a:t>Equipo KikiriKillers 🐔  ·  Hackathon Kiro + AWS  ·  Código Facilito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